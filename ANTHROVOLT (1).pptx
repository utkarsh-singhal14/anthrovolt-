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4" r:id="rId6"/>
    <p:sldId id="265" r:id="rId7"/>
    <p:sldId id="266" r:id="rId8"/>
    <p:sldId id="267" r:id="rId9"/>
    <p:sldId id="268" r:id="rId10"/>
    <p:sldId id="269" r:id="rId11"/>
    <p:sldId id="260"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78" d="100"/>
          <a:sy n="78"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2764378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1740454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770478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CD727F-9EA9-43BD-9E59-BE9E75B0DA7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282622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CD727F-9EA9-43BD-9E59-BE9E75B0DA7E}"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153665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4066293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227216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392905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CD727F-9EA9-43BD-9E59-BE9E75B0DA7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3017317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CD727F-9EA9-43BD-9E59-BE9E75B0DA7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3727511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2292458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57893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4163081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1389806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1097447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2012572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CD727F-9EA9-43BD-9E59-BE9E75B0DA7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19C3-1692-4C3C-BE51-21669AE2C907}" type="slidenum">
              <a:rPr lang="en-US" smtClean="0"/>
              <a:t>‹#›</a:t>
            </a:fld>
            <a:endParaRPr lang="en-US"/>
          </a:p>
        </p:txBody>
      </p:sp>
    </p:spTree>
    <p:extLst>
      <p:ext uri="{BB962C8B-B14F-4D97-AF65-F5344CB8AC3E}">
        <p14:creationId xmlns:p14="http://schemas.microsoft.com/office/powerpoint/2010/main" val="3601847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5CD727F-9EA9-43BD-9E59-BE9E75B0DA7E}" type="datetimeFigureOut">
              <a:rPr lang="en-US" smtClean="0"/>
              <a:t>11/11/2025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9EB19C3-1692-4C3C-BE51-21669AE2C907}" type="slidenum">
              <a:rPr lang="en-US" smtClean="0"/>
              <a:t>‹#›</a:t>
            </a:fld>
            <a:endParaRPr lang="en-US"/>
          </a:p>
        </p:txBody>
      </p:sp>
    </p:spTree>
    <p:extLst>
      <p:ext uri="{BB962C8B-B14F-4D97-AF65-F5344CB8AC3E}">
        <p14:creationId xmlns:p14="http://schemas.microsoft.com/office/powerpoint/2010/main" val="1546512897"/>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297D-0EBE-C313-FAC4-11E920452FFD}"/>
              </a:ext>
            </a:extLst>
          </p:cNvPr>
          <p:cNvSpPr>
            <a:spLocks noGrp="1"/>
          </p:cNvSpPr>
          <p:nvPr>
            <p:ph type="ctrTitle"/>
          </p:nvPr>
        </p:nvSpPr>
        <p:spPr>
          <a:xfrm>
            <a:off x="1154955" y="1447800"/>
            <a:ext cx="8825658" cy="3104535"/>
          </a:xfrm>
        </p:spPr>
        <p:txBody>
          <a:bodyPr>
            <a:normAutofit fontScale="90000"/>
          </a:bodyPr>
          <a:lstStyle/>
          <a:p>
            <a:pPr algn="ctr"/>
            <a:r>
              <a:rPr lang="en-US" b="1" dirty="0"/>
              <a:t>ANTHROVOLT </a:t>
            </a:r>
            <a:br>
              <a:rPr lang="en-US" b="1" dirty="0"/>
            </a:br>
            <a:br>
              <a:rPr lang="en-US" b="1" dirty="0"/>
            </a:br>
            <a:endParaRPr lang="en-US" b="1" dirty="0"/>
          </a:p>
        </p:txBody>
      </p:sp>
      <p:sp>
        <p:nvSpPr>
          <p:cNvPr id="4" name="TextBox 3">
            <a:extLst>
              <a:ext uri="{FF2B5EF4-FFF2-40B4-BE49-F238E27FC236}">
                <a16:creationId xmlns:a16="http://schemas.microsoft.com/office/drawing/2014/main" id="{D4064008-D827-6910-B348-6F0E0085AE03}"/>
              </a:ext>
            </a:extLst>
          </p:cNvPr>
          <p:cNvSpPr txBox="1"/>
          <p:nvPr/>
        </p:nvSpPr>
        <p:spPr>
          <a:xfrm>
            <a:off x="3826762" y="2646106"/>
            <a:ext cx="3482043" cy="430887"/>
          </a:xfrm>
          <a:prstGeom prst="rect">
            <a:avLst/>
          </a:prstGeom>
          <a:noFill/>
        </p:spPr>
        <p:txBody>
          <a:bodyPr wrap="none" rtlCol="0">
            <a:spAutoFit/>
          </a:bodyPr>
          <a:lstStyle/>
          <a:p>
            <a:r>
              <a:rPr lang="en-IN" sz="2200" dirty="0"/>
              <a:t>Engineered to Empower</a:t>
            </a:r>
          </a:p>
        </p:txBody>
      </p:sp>
    </p:spTree>
    <p:extLst>
      <p:ext uri="{BB962C8B-B14F-4D97-AF65-F5344CB8AC3E}">
        <p14:creationId xmlns:p14="http://schemas.microsoft.com/office/powerpoint/2010/main" val="16527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49C2D-7485-C51C-A800-C7981818CC37}"/>
              </a:ext>
            </a:extLst>
          </p:cNvPr>
          <p:cNvSpPr>
            <a:spLocks noGrp="1"/>
          </p:cNvSpPr>
          <p:nvPr>
            <p:ph type="title"/>
          </p:nvPr>
        </p:nvSpPr>
        <p:spPr/>
        <p:txBody>
          <a:bodyPr/>
          <a:lstStyle/>
          <a:p>
            <a:pPr algn="ctr"/>
            <a:r>
              <a:rPr lang="en-US" dirty="0"/>
              <a:t>INTRODUCTION </a:t>
            </a:r>
          </a:p>
        </p:txBody>
      </p:sp>
      <p:sp>
        <p:nvSpPr>
          <p:cNvPr id="3" name="Content Placeholder 2">
            <a:extLst>
              <a:ext uri="{FF2B5EF4-FFF2-40B4-BE49-F238E27FC236}">
                <a16:creationId xmlns:a16="http://schemas.microsoft.com/office/drawing/2014/main" id="{B7FE6967-F3BC-9E24-90F8-BD6472367B74}"/>
              </a:ext>
            </a:extLst>
          </p:cNvPr>
          <p:cNvSpPr>
            <a:spLocks noGrp="1"/>
          </p:cNvSpPr>
          <p:nvPr>
            <p:ph idx="1"/>
          </p:nvPr>
        </p:nvSpPr>
        <p:spPr/>
        <p:txBody>
          <a:bodyPr/>
          <a:lstStyle/>
          <a:p>
            <a:r>
              <a:rPr lang="en-US" dirty="0"/>
              <a:t>AnthroVolt is a rehabilitation device designed to aid in restoring and improving forearm mobility and muscle strength. It plays a crucial role in physiotherapy for patients recovering from fractures, muscle injuries, or neurological conditions that affect limb movement. By providing controlled, repetitive motion, AnthroVolt helps enhance joint flexibility, coordination, and muscular endurance. The device encourages active patient participation, making therapy more engaging and effective. In addition to therapeutic benefits, the system converts mechanical motion into electrical energy, making it a sustainable and innovative solution for medical rehabilitation centers and hospitals.</a:t>
            </a:r>
          </a:p>
        </p:txBody>
      </p:sp>
    </p:spTree>
    <p:extLst>
      <p:ext uri="{BB962C8B-B14F-4D97-AF65-F5344CB8AC3E}">
        <p14:creationId xmlns:p14="http://schemas.microsoft.com/office/powerpoint/2010/main" val="2255572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31B4-FCCE-A507-5416-9FF939087CFF}"/>
              </a:ext>
            </a:extLst>
          </p:cNvPr>
          <p:cNvSpPr>
            <a:spLocks noGrp="1"/>
          </p:cNvSpPr>
          <p:nvPr>
            <p:ph type="title"/>
          </p:nvPr>
        </p:nvSpPr>
        <p:spPr/>
        <p:txBody>
          <a:bodyPr/>
          <a:lstStyle/>
          <a:p>
            <a:pPr algn="ctr"/>
            <a:r>
              <a:rPr lang="en-US" dirty="0"/>
              <a:t>WORKING PRINCIPLE </a:t>
            </a:r>
          </a:p>
        </p:txBody>
      </p:sp>
      <p:sp>
        <p:nvSpPr>
          <p:cNvPr id="3" name="Content Placeholder 2">
            <a:extLst>
              <a:ext uri="{FF2B5EF4-FFF2-40B4-BE49-F238E27FC236}">
                <a16:creationId xmlns:a16="http://schemas.microsoft.com/office/drawing/2014/main" id="{71F001A4-C177-DC95-6E67-598E78D24014}"/>
              </a:ext>
            </a:extLst>
          </p:cNvPr>
          <p:cNvSpPr>
            <a:spLocks noGrp="1"/>
          </p:cNvSpPr>
          <p:nvPr>
            <p:ph idx="1"/>
          </p:nvPr>
        </p:nvSpPr>
        <p:spPr/>
        <p:txBody>
          <a:bodyPr/>
          <a:lstStyle/>
          <a:p>
            <a:r>
              <a:rPr lang="en-US" dirty="0"/>
              <a:t>AnthroVolt works on the principle of converting </a:t>
            </a:r>
            <a:r>
              <a:rPr lang="en-US" b="1" dirty="0"/>
              <a:t>mechanical energy into electrical energy</a:t>
            </a:r>
            <a:r>
              <a:rPr lang="en-US" dirty="0"/>
              <a:t> using human motion. When the user moves the handle up and down, the </a:t>
            </a:r>
            <a:r>
              <a:rPr lang="en-US" b="1" dirty="0"/>
              <a:t>shaft transfers motion</a:t>
            </a:r>
            <a:r>
              <a:rPr lang="en-US" dirty="0"/>
              <a:t> to a generator, producing electricity based on </a:t>
            </a:r>
            <a:r>
              <a:rPr lang="en-US" b="1" dirty="0"/>
              <a:t>Faraday’s Law of Electromagnetic Induction</a:t>
            </a:r>
            <a:r>
              <a:rPr lang="en-US" dirty="0"/>
              <a:t>. An </a:t>
            </a:r>
            <a:r>
              <a:rPr lang="en-US" b="1" dirty="0"/>
              <a:t>Arduino</a:t>
            </a:r>
            <a:r>
              <a:rPr lang="en-US" dirty="0"/>
              <a:t> is integrated to </a:t>
            </a:r>
            <a:r>
              <a:rPr lang="en-US" b="1" dirty="0"/>
              <a:t>track and record movement</a:t>
            </a:r>
            <a:r>
              <a:rPr lang="en-US" dirty="0"/>
              <a:t>, monitoring speed, count, and efficiency. This makes AnthroVolt useful for </a:t>
            </a:r>
            <a:r>
              <a:rPr lang="en-US" b="1" dirty="0"/>
              <a:t>forearm rehabilitation</a:t>
            </a:r>
            <a:r>
              <a:rPr lang="en-US" dirty="0"/>
              <a:t>, </a:t>
            </a:r>
            <a:r>
              <a:rPr lang="en-US" b="1" dirty="0"/>
              <a:t>muscle training</a:t>
            </a:r>
            <a:r>
              <a:rPr lang="en-US" dirty="0"/>
              <a:t>, and </a:t>
            </a:r>
            <a:r>
              <a:rPr lang="en-US" b="1" dirty="0"/>
              <a:t>sustainable energy generation</a:t>
            </a:r>
            <a:r>
              <a:rPr lang="en-US" dirty="0"/>
              <a:t>.</a:t>
            </a:r>
          </a:p>
        </p:txBody>
      </p:sp>
    </p:spTree>
    <p:extLst>
      <p:ext uri="{BB962C8B-B14F-4D97-AF65-F5344CB8AC3E}">
        <p14:creationId xmlns:p14="http://schemas.microsoft.com/office/powerpoint/2010/main" val="395913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B919-5D43-9036-AD33-948C1D24DB92}"/>
              </a:ext>
            </a:extLst>
          </p:cNvPr>
          <p:cNvSpPr>
            <a:spLocks noGrp="1"/>
          </p:cNvSpPr>
          <p:nvPr>
            <p:ph type="title"/>
          </p:nvPr>
        </p:nvSpPr>
        <p:spPr>
          <a:xfrm>
            <a:off x="838200" y="365126"/>
            <a:ext cx="10515600" cy="464112"/>
          </a:xfrm>
        </p:spPr>
        <p:txBody>
          <a:bodyPr>
            <a:normAutofit fontScale="90000"/>
          </a:bodyPr>
          <a:lstStyle/>
          <a:p>
            <a:pPr algn="ctr"/>
            <a:r>
              <a:rPr lang="en-US" dirty="0"/>
              <a:t>AMPLITUDE </a:t>
            </a:r>
          </a:p>
        </p:txBody>
      </p:sp>
      <p:sp>
        <p:nvSpPr>
          <p:cNvPr id="3" name="Content Placeholder 2">
            <a:extLst>
              <a:ext uri="{FF2B5EF4-FFF2-40B4-BE49-F238E27FC236}">
                <a16:creationId xmlns:a16="http://schemas.microsoft.com/office/drawing/2014/main" id="{A16ACB3B-E181-68E4-C8DA-A591E130A37F}"/>
              </a:ext>
            </a:extLst>
          </p:cNvPr>
          <p:cNvSpPr>
            <a:spLocks noGrp="1"/>
          </p:cNvSpPr>
          <p:nvPr>
            <p:ph idx="1"/>
          </p:nvPr>
        </p:nvSpPr>
        <p:spPr>
          <a:xfrm>
            <a:off x="1199535" y="1154672"/>
            <a:ext cx="8701133" cy="1532138"/>
          </a:xfrm>
        </p:spPr>
        <p:txBody>
          <a:bodyPr/>
          <a:lstStyle/>
          <a:p>
            <a:r>
              <a:rPr lang="en-US" dirty="0"/>
              <a:t> How far and strongly the wrist is moving</a:t>
            </a:r>
          </a:p>
          <a:p>
            <a:r>
              <a:rPr lang="en-US" dirty="0"/>
              <a:t> low amplitude – stiffness or reduced wrist mobility</a:t>
            </a:r>
          </a:p>
        </p:txBody>
      </p:sp>
      <p:sp>
        <p:nvSpPr>
          <p:cNvPr id="4" name="AutoShape 2">
            <a:extLst>
              <a:ext uri="{FF2B5EF4-FFF2-40B4-BE49-F238E27FC236}">
                <a16:creationId xmlns:a16="http://schemas.microsoft.com/office/drawing/2014/main" id="{C30BC914-6410-BF8A-816E-6C54F0019A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AB41AC1D-CA4F-BBDF-E125-28115E7CA164}"/>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F7519A0F-5BF3-DE97-185F-4990BD3F1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1330" y="2237366"/>
            <a:ext cx="7609337" cy="4408007"/>
          </a:xfrm>
          <a:prstGeom prst="rect">
            <a:avLst/>
          </a:prstGeom>
        </p:spPr>
      </p:pic>
    </p:spTree>
    <p:extLst>
      <p:ext uri="{BB962C8B-B14F-4D97-AF65-F5344CB8AC3E}">
        <p14:creationId xmlns:p14="http://schemas.microsoft.com/office/powerpoint/2010/main" val="247090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FE0C-242E-62F0-87F5-920F53CC3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83E62-0C6D-FD37-8376-F317EA7F15FD}"/>
              </a:ext>
            </a:extLst>
          </p:cNvPr>
          <p:cNvSpPr>
            <a:spLocks noGrp="1"/>
          </p:cNvSpPr>
          <p:nvPr>
            <p:ph type="title"/>
          </p:nvPr>
        </p:nvSpPr>
        <p:spPr>
          <a:xfrm>
            <a:off x="838200" y="365126"/>
            <a:ext cx="10515600" cy="464112"/>
          </a:xfrm>
        </p:spPr>
        <p:txBody>
          <a:bodyPr>
            <a:normAutofit fontScale="90000"/>
          </a:bodyPr>
          <a:lstStyle/>
          <a:p>
            <a:pPr algn="ctr"/>
            <a:r>
              <a:rPr lang="en-US" dirty="0"/>
              <a:t>VOLTAGE</a:t>
            </a:r>
          </a:p>
        </p:txBody>
      </p:sp>
      <p:sp>
        <p:nvSpPr>
          <p:cNvPr id="3" name="Content Placeholder 2">
            <a:extLst>
              <a:ext uri="{FF2B5EF4-FFF2-40B4-BE49-F238E27FC236}">
                <a16:creationId xmlns:a16="http://schemas.microsoft.com/office/drawing/2014/main" id="{F670C02C-ABA4-95E6-44C7-B72ED74D33A2}"/>
              </a:ext>
            </a:extLst>
          </p:cNvPr>
          <p:cNvSpPr>
            <a:spLocks noGrp="1"/>
          </p:cNvSpPr>
          <p:nvPr>
            <p:ph idx="1"/>
          </p:nvPr>
        </p:nvSpPr>
        <p:spPr>
          <a:xfrm>
            <a:off x="838200" y="1054593"/>
            <a:ext cx="11353800" cy="1532138"/>
          </a:xfrm>
        </p:spPr>
        <p:txBody>
          <a:bodyPr/>
          <a:lstStyle/>
          <a:p>
            <a:r>
              <a:rPr lang="en-US" dirty="0"/>
              <a:t> Indicates the  raw voltage signals </a:t>
            </a:r>
          </a:p>
          <a:p>
            <a:r>
              <a:rPr lang="en-US" dirty="0"/>
              <a:t> low voltage – restricted wrist movement </a:t>
            </a:r>
          </a:p>
        </p:txBody>
      </p:sp>
      <p:sp>
        <p:nvSpPr>
          <p:cNvPr id="4" name="AutoShape 2">
            <a:extLst>
              <a:ext uri="{FF2B5EF4-FFF2-40B4-BE49-F238E27FC236}">
                <a16:creationId xmlns:a16="http://schemas.microsoft.com/office/drawing/2014/main" id="{5FB1A316-F859-A0F8-20AB-D397F9C13A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B275BD43-E7F2-1ADF-8FC6-6EB6595DA844}"/>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07984581-74C7-E2FD-4DC1-F5524F2573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8877" y="1990760"/>
            <a:ext cx="8429590" cy="4616518"/>
          </a:xfrm>
          <a:prstGeom prst="rect">
            <a:avLst/>
          </a:prstGeom>
        </p:spPr>
      </p:pic>
    </p:spTree>
    <p:extLst>
      <p:ext uri="{BB962C8B-B14F-4D97-AF65-F5344CB8AC3E}">
        <p14:creationId xmlns:p14="http://schemas.microsoft.com/office/powerpoint/2010/main" val="164933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7718-6028-2E7F-282B-42AD59B24D79}"/>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2F1D265-D6B6-9600-A7FA-61C45B8C9D4A}"/>
              </a:ext>
            </a:extLst>
          </p:cNvPr>
          <p:cNvSpPr>
            <a:spLocks noGrp="1"/>
          </p:cNvSpPr>
          <p:nvPr>
            <p:ph type="title"/>
          </p:nvPr>
        </p:nvSpPr>
        <p:spPr>
          <a:xfrm>
            <a:off x="992220" y="365125"/>
            <a:ext cx="10361579" cy="537069"/>
          </a:xfrm>
        </p:spPr>
        <p:txBody>
          <a:bodyPr>
            <a:normAutofit fontScale="90000"/>
          </a:bodyPr>
          <a:lstStyle/>
          <a:p>
            <a:pPr algn="ctr"/>
            <a:r>
              <a:rPr lang="en-US" dirty="0"/>
              <a:t>SMOOTHNESS</a:t>
            </a:r>
          </a:p>
        </p:txBody>
      </p:sp>
      <p:sp>
        <p:nvSpPr>
          <p:cNvPr id="3" name="Content Placeholder 2">
            <a:extLst>
              <a:ext uri="{FF2B5EF4-FFF2-40B4-BE49-F238E27FC236}">
                <a16:creationId xmlns:a16="http://schemas.microsoft.com/office/drawing/2014/main" id="{AD0A54E0-6349-8988-D3FD-C36B33394409}"/>
              </a:ext>
            </a:extLst>
          </p:cNvPr>
          <p:cNvSpPr>
            <a:spLocks noGrp="1"/>
          </p:cNvSpPr>
          <p:nvPr>
            <p:ph idx="1"/>
          </p:nvPr>
        </p:nvSpPr>
        <p:spPr>
          <a:xfrm>
            <a:off x="1061883" y="1201579"/>
            <a:ext cx="11130115" cy="1532138"/>
          </a:xfrm>
        </p:spPr>
        <p:txBody>
          <a:bodyPr/>
          <a:lstStyle/>
          <a:p>
            <a:r>
              <a:rPr lang="en-US" dirty="0"/>
              <a:t> Indicates stability of motion based on signal variance </a:t>
            </a:r>
          </a:p>
          <a:p>
            <a:r>
              <a:rPr lang="en-US" dirty="0"/>
              <a:t> low smoothness – jerky ,uncoordinated movement </a:t>
            </a:r>
          </a:p>
        </p:txBody>
      </p:sp>
      <p:sp>
        <p:nvSpPr>
          <p:cNvPr id="4" name="AutoShape 2">
            <a:extLst>
              <a:ext uri="{FF2B5EF4-FFF2-40B4-BE49-F238E27FC236}">
                <a16:creationId xmlns:a16="http://schemas.microsoft.com/office/drawing/2014/main" id="{30ACDF01-E44B-B5B1-434F-C373762383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3B79A0FC-8A6B-77E4-8F8F-F390FA6FA788}"/>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1FD702B1-8F01-FEDA-C5CB-D625074B0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6335" y="2190833"/>
            <a:ext cx="8634530" cy="4465671"/>
          </a:xfrm>
          <a:prstGeom prst="rect">
            <a:avLst/>
          </a:prstGeom>
        </p:spPr>
      </p:pic>
    </p:spTree>
    <p:extLst>
      <p:ext uri="{BB962C8B-B14F-4D97-AF65-F5344CB8AC3E}">
        <p14:creationId xmlns:p14="http://schemas.microsoft.com/office/powerpoint/2010/main" val="90892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E6D8-BE8F-C752-53DA-8DF02FA6BF1D}"/>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51104BB6-1D28-9BC3-DB3B-039500B0CF73}"/>
              </a:ext>
            </a:extLst>
          </p:cNvPr>
          <p:cNvSpPr>
            <a:spLocks noGrp="1"/>
          </p:cNvSpPr>
          <p:nvPr>
            <p:ph type="title"/>
          </p:nvPr>
        </p:nvSpPr>
        <p:spPr>
          <a:xfrm>
            <a:off x="992220" y="365125"/>
            <a:ext cx="10361579" cy="537069"/>
          </a:xfrm>
        </p:spPr>
        <p:txBody>
          <a:bodyPr>
            <a:normAutofit fontScale="90000"/>
          </a:bodyPr>
          <a:lstStyle/>
          <a:p>
            <a:pPr algn="ctr"/>
            <a:r>
              <a:rPr lang="en-US" dirty="0"/>
              <a:t>FREQUENCY </a:t>
            </a:r>
          </a:p>
        </p:txBody>
      </p:sp>
      <p:sp>
        <p:nvSpPr>
          <p:cNvPr id="3" name="Content Placeholder 2">
            <a:extLst>
              <a:ext uri="{FF2B5EF4-FFF2-40B4-BE49-F238E27FC236}">
                <a16:creationId xmlns:a16="http://schemas.microsoft.com/office/drawing/2014/main" id="{CCA2A4A3-7F57-103B-196C-F52DA451BEC9}"/>
              </a:ext>
            </a:extLst>
          </p:cNvPr>
          <p:cNvSpPr>
            <a:spLocks noGrp="1"/>
          </p:cNvSpPr>
          <p:nvPr>
            <p:ph idx="1"/>
          </p:nvPr>
        </p:nvSpPr>
        <p:spPr>
          <a:xfrm>
            <a:off x="1101212" y="1130015"/>
            <a:ext cx="11090785" cy="1532138"/>
          </a:xfrm>
        </p:spPr>
        <p:txBody>
          <a:bodyPr/>
          <a:lstStyle/>
          <a:p>
            <a:r>
              <a:rPr lang="en-US" dirty="0"/>
              <a:t> Indicates speed of wrist oscillation </a:t>
            </a:r>
          </a:p>
          <a:p>
            <a:r>
              <a:rPr lang="en-US" dirty="0"/>
              <a:t> low frequency – poor control or tremor</a:t>
            </a:r>
          </a:p>
        </p:txBody>
      </p:sp>
      <p:sp>
        <p:nvSpPr>
          <p:cNvPr id="4" name="AutoShape 2">
            <a:extLst>
              <a:ext uri="{FF2B5EF4-FFF2-40B4-BE49-F238E27FC236}">
                <a16:creationId xmlns:a16="http://schemas.microsoft.com/office/drawing/2014/main" id="{B124BD4C-F0AA-B0D2-DF58-F87ACCB4877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0C92F795-62E3-1CA6-2D73-15E37041D626}"/>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82AD4ED6-C8CC-C33C-40A5-E500F2FD9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598" y="2131089"/>
            <a:ext cx="8772801" cy="4585159"/>
          </a:xfrm>
          <a:prstGeom prst="rect">
            <a:avLst/>
          </a:prstGeom>
        </p:spPr>
      </p:pic>
    </p:spTree>
    <p:extLst>
      <p:ext uri="{BB962C8B-B14F-4D97-AF65-F5344CB8AC3E}">
        <p14:creationId xmlns:p14="http://schemas.microsoft.com/office/powerpoint/2010/main" val="257755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19F5-0CE3-54A6-71BE-CFF001866B3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E6FFC14-9584-209D-B47A-0E506267E023}"/>
              </a:ext>
            </a:extLst>
          </p:cNvPr>
          <p:cNvSpPr>
            <a:spLocks noGrp="1"/>
          </p:cNvSpPr>
          <p:nvPr>
            <p:ph type="title"/>
          </p:nvPr>
        </p:nvSpPr>
        <p:spPr>
          <a:xfrm>
            <a:off x="838200" y="365125"/>
            <a:ext cx="10515600" cy="700323"/>
          </a:xfrm>
        </p:spPr>
        <p:txBody>
          <a:bodyPr/>
          <a:lstStyle/>
          <a:p>
            <a:pPr algn="ctr"/>
            <a:r>
              <a:rPr lang="en-US" dirty="0"/>
              <a:t>CONCLUSIONS </a:t>
            </a:r>
          </a:p>
        </p:txBody>
      </p:sp>
      <p:sp>
        <p:nvSpPr>
          <p:cNvPr id="3" name="Content Placeholder 2">
            <a:extLst>
              <a:ext uri="{FF2B5EF4-FFF2-40B4-BE49-F238E27FC236}">
                <a16:creationId xmlns:a16="http://schemas.microsoft.com/office/drawing/2014/main" id="{B3363F07-9386-5C9B-85C0-456FFA9AEDAD}"/>
              </a:ext>
            </a:extLst>
          </p:cNvPr>
          <p:cNvSpPr>
            <a:spLocks noGrp="1"/>
          </p:cNvSpPr>
          <p:nvPr>
            <p:ph idx="1"/>
          </p:nvPr>
        </p:nvSpPr>
        <p:spPr>
          <a:xfrm>
            <a:off x="1108586" y="1187334"/>
            <a:ext cx="11201399" cy="1532138"/>
          </a:xfrm>
        </p:spPr>
        <p:txBody>
          <a:bodyPr/>
          <a:lstStyle/>
          <a:p>
            <a:r>
              <a:rPr lang="en-US" dirty="0"/>
              <a:t>Higher peaks → larger or faster wrist movements</a:t>
            </a:r>
          </a:p>
          <a:p>
            <a:r>
              <a:rPr lang="en-US" dirty="0"/>
              <a:t>Flat or low areas → stillness or slow motion</a:t>
            </a:r>
          </a:p>
        </p:txBody>
      </p:sp>
      <p:sp>
        <p:nvSpPr>
          <p:cNvPr id="4" name="AutoShape 2">
            <a:extLst>
              <a:ext uri="{FF2B5EF4-FFF2-40B4-BE49-F238E27FC236}">
                <a16:creationId xmlns:a16="http://schemas.microsoft.com/office/drawing/2014/main" id="{0B29D907-3244-2C5D-3D59-BD47C5A078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09444ED8-E026-F919-DEA9-2FD3F8B275A8}"/>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0042A8F1-8945-69F3-D0D2-BA85F6A8D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247378"/>
            <a:ext cx="10515600" cy="4529561"/>
          </a:xfrm>
          <a:prstGeom prst="rect">
            <a:avLst/>
          </a:prstGeom>
        </p:spPr>
      </p:pic>
    </p:spTree>
    <p:extLst>
      <p:ext uri="{BB962C8B-B14F-4D97-AF65-F5344CB8AC3E}">
        <p14:creationId xmlns:p14="http://schemas.microsoft.com/office/powerpoint/2010/main" val="47817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C2D4-CC5E-729D-29CD-BA342B73468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04CC7E7-C9CA-1DEB-5EFB-36E175D85329}"/>
              </a:ext>
            </a:extLst>
          </p:cNvPr>
          <p:cNvSpPr>
            <a:spLocks noGrp="1"/>
          </p:cNvSpPr>
          <p:nvPr>
            <p:ph type="title"/>
          </p:nvPr>
        </p:nvSpPr>
        <p:spPr>
          <a:xfrm>
            <a:off x="838200" y="365125"/>
            <a:ext cx="10515600" cy="700323"/>
          </a:xfrm>
        </p:spPr>
        <p:txBody>
          <a:bodyPr/>
          <a:lstStyle/>
          <a:p>
            <a:pPr algn="ctr"/>
            <a:r>
              <a:rPr lang="en-US" dirty="0"/>
              <a:t>CONCLUSIONS </a:t>
            </a:r>
          </a:p>
        </p:txBody>
      </p:sp>
      <p:sp>
        <p:nvSpPr>
          <p:cNvPr id="3" name="Content Placeholder 2">
            <a:extLst>
              <a:ext uri="{FF2B5EF4-FFF2-40B4-BE49-F238E27FC236}">
                <a16:creationId xmlns:a16="http://schemas.microsoft.com/office/drawing/2014/main" id="{249D7737-3901-7441-BB31-E48B793185E4}"/>
              </a:ext>
            </a:extLst>
          </p:cNvPr>
          <p:cNvSpPr>
            <a:spLocks noGrp="1"/>
          </p:cNvSpPr>
          <p:nvPr>
            <p:ph idx="1"/>
          </p:nvPr>
        </p:nvSpPr>
        <p:spPr>
          <a:xfrm>
            <a:off x="1258528" y="1501961"/>
            <a:ext cx="9674942" cy="4623536"/>
          </a:xfrm>
        </p:spPr>
        <p:txBody>
          <a:bodyPr>
            <a:normAutofit/>
          </a:bodyPr>
          <a:lstStyle/>
          <a:p>
            <a:pPr marL="0" indent="0" algn="ctr">
              <a:buNone/>
            </a:pPr>
            <a:endParaRPr lang="en-US" dirty="0"/>
          </a:p>
          <a:p>
            <a:pPr marL="0" indent="0" algn="ctr">
              <a:buNone/>
            </a:pPr>
            <a:r>
              <a:rPr lang="en-US" dirty="0"/>
              <a:t>Blue Line – Actual Mobility (from Arduino):This is the true measured mobility of your wrist, directly derived from the sensor signal (after filtering and feature extraction).Notice the spikes between 5–25 seconds → these are bursts of active wrist movement.The flat regions indicate rest or minimal motion.</a:t>
            </a:r>
          </a:p>
          <a:p>
            <a:pPr marL="0" indent="0" algn="ctr">
              <a:buNone/>
            </a:pPr>
            <a:endParaRPr lang="en-US" dirty="0"/>
          </a:p>
          <a:p>
            <a:pPr marL="0" indent="0" algn="ctr">
              <a:buNone/>
            </a:pPr>
            <a:r>
              <a:rPr lang="en-US" dirty="0"/>
              <a:t>Red Dashed Line – Predicted Mobility (Linear Regression):This is the machine learning model’s prediction based on live data.It follows the blue line closely, meaning the model successfully learns and tracks wrist motion patterns.The tight overlap of red and blue lines indicates high accuracy and reliability.</a:t>
            </a:r>
          </a:p>
        </p:txBody>
      </p:sp>
      <p:sp>
        <p:nvSpPr>
          <p:cNvPr id="4" name="AutoShape 2">
            <a:extLst>
              <a:ext uri="{FF2B5EF4-FFF2-40B4-BE49-F238E27FC236}">
                <a16:creationId xmlns:a16="http://schemas.microsoft.com/office/drawing/2014/main" id="{FEBCB9A7-B8D4-6590-358A-87248A3BDB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E168100B-B81D-B33F-D6BE-0AE0A26AEAA0}"/>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2472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EABC-986A-5E90-36F8-4BBA4E58A80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400CCF4-D4A6-87DC-8BB2-E4CAE9629065}"/>
              </a:ext>
            </a:extLst>
          </p:cNvPr>
          <p:cNvSpPr>
            <a:spLocks noGrp="1"/>
          </p:cNvSpPr>
          <p:nvPr>
            <p:ph type="title"/>
          </p:nvPr>
        </p:nvSpPr>
        <p:spPr>
          <a:xfrm>
            <a:off x="838200" y="365125"/>
            <a:ext cx="10515600" cy="700323"/>
          </a:xfrm>
        </p:spPr>
        <p:txBody>
          <a:bodyPr/>
          <a:lstStyle/>
          <a:p>
            <a:pPr algn="ctr"/>
            <a:r>
              <a:rPr lang="en-US" dirty="0"/>
              <a:t>CLINICAL DIAGNOSTICS </a:t>
            </a:r>
          </a:p>
        </p:txBody>
      </p:sp>
      <p:sp>
        <p:nvSpPr>
          <p:cNvPr id="3" name="Content Placeholder 2">
            <a:extLst>
              <a:ext uri="{FF2B5EF4-FFF2-40B4-BE49-F238E27FC236}">
                <a16:creationId xmlns:a16="http://schemas.microsoft.com/office/drawing/2014/main" id="{2E68E044-4D9C-7A1D-FDFC-035434C8A097}"/>
              </a:ext>
            </a:extLst>
          </p:cNvPr>
          <p:cNvSpPr>
            <a:spLocks noGrp="1"/>
          </p:cNvSpPr>
          <p:nvPr>
            <p:ph idx="1"/>
          </p:nvPr>
        </p:nvSpPr>
        <p:spPr>
          <a:xfrm>
            <a:off x="938980" y="1456444"/>
            <a:ext cx="10009239" cy="3945110"/>
          </a:xfrm>
        </p:spPr>
        <p:txBody>
          <a:bodyPr>
            <a:normAutofit/>
          </a:bodyPr>
          <a:lstStyle/>
          <a:p>
            <a:pPr marL="0" indent="0" algn="ctr">
              <a:buNone/>
            </a:pPr>
            <a:endParaRPr lang="en-US" dirty="0"/>
          </a:p>
          <a:p>
            <a:pPr marL="0" indent="0" algn="ctr">
              <a:buNone/>
            </a:pPr>
            <a:endParaRPr lang="en-US" dirty="0"/>
          </a:p>
          <a:p>
            <a:pPr marL="0" indent="0" algn="ctr">
              <a:buNone/>
            </a:pPr>
            <a:r>
              <a:rPr lang="en-US" dirty="0"/>
              <a:t>Here’s  how you can explain its diagnostic value: "Each spike corresponds to a wrist flexion–extension cycle. Regular, consistent spikes = healthy joint mobility. Irregular amplitudes or missing spikes = possible stiffness, tremor, or restricted range. ”The model can serve as a digital biomarker to track progress during physiotherapy, detect fatigue, or monitor post-surgery recovery.”</a:t>
            </a:r>
          </a:p>
        </p:txBody>
      </p:sp>
      <p:sp>
        <p:nvSpPr>
          <p:cNvPr id="4" name="AutoShape 2">
            <a:extLst>
              <a:ext uri="{FF2B5EF4-FFF2-40B4-BE49-F238E27FC236}">
                <a16:creationId xmlns:a16="http://schemas.microsoft.com/office/drawing/2014/main" id="{F7F7D8BD-42DE-D55D-50F9-D19132B4EC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0CF8DEFB-7C80-DDE0-587B-7A5C6E7E54C0}"/>
              </a:ext>
            </a:extLst>
          </p:cNvPr>
          <p:cNvSpPr>
            <a:spLocks noChangeAspect="1" noChangeArrowheads="1"/>
          </p:cNvSpPr>
          <p:nvPr/>
        </p:nvSpPr>
        <p:spPr bwMode="auto">
          <a:xfrm>
            <a:off x="6095999" y="3428999"/>
            <a:ext cx="2024743" cy="202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6372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C9FB-EACA-8195-C68B-E6C80624F4B1}"/>
              </a:ext>
            </a:extLst>
          </p:cNvPr>
          <p:cNvSpPr>
            <a:spLocks noGrp="1"/>
          </p:cNvSpPr>
          <p:nvPr>
            <p:ph type="title"/>
          </p:nvPr>
        </p:nvSpPr>
        <p:spPr/>
        <p:txBody>
          <a:bodyPr/>
          <a:lstStyle/>
          <a:p>
            <a:pPr algn="ctr"/>
            <a:r>
              <a:rPr lang="en-US" dirty="0"/>
              <a:t>APPLICATIONS </a:t>
            </a:r>
          </a:p>
        </p:txBody>
      </p:sp>
      <p:sp>
        <p:nvSpPr>
          <p:cNvPr id="3" name="Content Placeholder 2">
            <a:extLst>
              <a:ext uri="{FF2B5EF4-FFF2-40B4-BE49-F238E27FC236}">
                <a16:creationId xmlns:a16="http://schemas.microsoft.com/office/drawing/2014/main" id="{10E167E4-C43B-799A-E974-D8833901461C}"/>
              </a:ext>
            </a:extLst>
          </p:cNvPr>
          <p:cNvSpPr>
            <a:spLocks noGrp="1"/>
          </p:cNvSpPr>
          <p:nvPr>
            <p:ph idx="1"/>
          </p:nvPr>
        </p:nvSpPr>
        <p:spPr/>
        <p:txBody>
          <a:bodyPr/>
          <a:lstStyle/>
          <a:p>
            <a:r>
              <a:rPr lang="en-US" b="1" dirty="0"/>
              <a:t>Sports Training:</a:t>
            </a:r>
            <a:r>
              <a:rPr lang="en-US" dirty="0"/>
              <a:t> Enhances forearm strength, grip, and endurance through repetitive motion. It also helps athletes track motion and power output using Arduino sensors.</a:t>
            </a:r>
          </a:p>
          <a:p>
            <a:r>
              <a:rPr lang="en-US" b="1" dirty="0"/>
              <a:t>Medical Rehabilitation:</a:t>
            </a:r>
            <a:r>
              <a:rPr lang="en-US" dirty="0"/>
              <a:t> Assists patients in regaining forearm mobility after injury or surgery, providing controlled exercise and measurable recovery feedback.</a:t>
            </a:r>
          </a:p>
          <a:p>
            <a:r>
              <a:rPr lang="en-US" b="1" dirty="0"/>
              <a:t>Sustainable Energy Source:</a:t>
            </a:r>
            <a:r>
              <a:rPr lang="en-US" dirty="0"/>
              <a:t> Converts human motion into electricity, enabling charging of small devices while exercising, thus promoting eco-friendly energy use.</a:t>
            </a:r>
          </a:p>
          <a:p>
            <a:endParaRPr lang="en-US" dirty="0"/>
          </a:p>
        </p:txBody>
      </p:sp>
    </p:spTree>
    <p:extLst>
      <p:ext uri="{BB962C8B-B14F-4D97-AF65-F5344CB8AC3E}">
        <p14:creationId xmlns:p14="http://schemas.microsoft.com/office/powerpoint/2010/main" val="364176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FC4D-6094-BED6-9183-345AFFFBED4D}"/>
              </a:ext>
            </a:extLst>
          </p:cNvPr>
          <p:cNvSpPr>
            <a:spLocks noGrp="1"/>
          </p:cNvSpPr>
          <p:nvPr>
            <p:ph type="title"/>
          </p:nvPr>
        </p:nvSpPr>
        <p:spPr/>
        <p:txBody>
          <a:bodyPr/>
          <a:lstStyle/>
          <a:p>
            <a:pPr algn="ctr"/>
            <a:r>
              <a:rPr lang="en-US" dirty="0"/>
              <a:t>FUTURE SCOPE </a:t>
            </a:r>
          </a:p>
        </p:txBody>
      </p:sp>
      <p:sp>
        <p:nvSpPr>
          <p:cNvPr id="4" name="Rectangle 1">
            <a:extLst>
              <a:ext uri="{FF2B5EF4-FFF2-40B4-BE49-F238E27FC236}">
                <a16:creationId xmlns:a16="http://schemas.microsoft.com/office/drawing/2014/main" id="{06BF10CD-7CE8-D1B5-7C11-151AC3C8D1F0}"/>
              </a:ext>
            </a:extLst>
          </p:cNvPr>
          <p:cNvSpPr>
            <a:spLocks noGrp="1" noChangeArrowheads="1"/>
          </p:cNvSpPr>
          <p:nvPr>
            <p:ph idx="1"/>
          </p:nvPr>
        </p:nvSpPr>
        <p:spPr bwMode="auto">
          <a:xfrm>
            <a:off x="1456574" y="1680766"/>
            <a:ext cx="887713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Future versions can include advanced sensors and IoT connectivity for real-time performance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Improved ergonomic design can make it suitable for all age groups and medical conditions.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Energy output can be enhanced to power more devices efficiently.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Integration with mobile apps can monitor progress and energy generated.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concept can expand into full-body rehabilitation and energy-harvesting fitness equipment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30576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514E-EA6A-3FDD-604D-04425A10524B}"/>
              </a:ext>
            </a:extLst>
          </p:cNvPr>
          <p:cNvSpPr>
            <a:spLocks noGrp="1"/>
          </p:cNvSpPr>
          <p:nvPr>
            <p:ph type="title"/>
          </p:nvPr>
        </p:nvSpPr>
        <p:spPr/>
        <p:txBody>
          <a:bodyPr/>
          <a:lstStyle/>
          <a:p>
            <a:pPr algn="ctr"/>
            <a:r>
              <a:rPr lang="en-US" dirty="0"/>
              <a:t>TEAM MEMBERS  </a:t>
            </a:r>
          </a:p>
        </p:txBody>
      </p:sp>
      <p:sp>
        <p:nvSpPr>
          <p:cNvPr id="3" name="Content Placeholder 2">
            <a:extLst>
              <a:ext uri="{FF2B5EF4-FFF2-40B4-BE49-F238E27FC236}">
                <a16:creationId xmlns:a16="http://schemas.microsoft.com/office/drawing/2014/main" id="{A9744291-43C8-F323-29D5-C254E3E24B20}"/>
              </a:ext>
            </a:extLst>
          </p:cNvPr>
          <p:cNvSpPr>
            <a:spLocks noGrp="1"/>
          </p:cNvSpPr>
          <p:nvPr>
            <p:ph idx="1"/>
          </p:nvPr>
        </p:nvSpPr>
        <p:spPr>
          <a:xfrm>
            <a:off x="1103313" y="2052918"/>
            <a:ext cx="7057462" cy="4195481"/>
          </a:xfrm>
        </p:spPr>
        <p:txBody>
          <a:bodyPr/>
          <a:lstStyle/>
          <a:p>
            <a:r>
              <a:rPr lang="en-US" dirty="0"/>
              <a:t>SARTHAK BHARTI  (240938)</a:t>
            </a:r>
          </a:p>
          <a:p>
            <a:r>
              <a:rPr lang="en-US" dirty="0"/>
              <a:t>AAYUSHMAN TRIPATHI (240025)</a:t>
            </a:r>
          </a:p>
          <a:p>
            <a:r>
              <a:rPr lang="en-US" dirty="0"/>
              <a:t>BHARGAVI BORSE (240284)</a:t>
            </a:r>
          </a:p>
          <a:p>
            <a:r>
              <a:rPr lang="en-US" dirty="0"/>
              <a:t>AKSHAT KASARWAL (240085) </a:t>
            </a:r>
          </a:p>
          <a:p>
            <a:r>
              <a:rPr lang="en-US" dirty="0"/>
              <a:t>SHAMBHAVI SINGH (240958)</a:t>
            </a:r>
          </a:p>
          <a:p>
            <a:r>
              <a:rPr lang="en-US" dirty="0"/>
              <a:t>HARSHIT DASHORE (240439)</a:t>
            </a:r>
          </a:p>
          <a:p>
            <a:r>
              <a:rPr lang="en-US" dirty="0"/>
              <a:t>PRIYANSHU JOSHI (240806) </a:t>
            </a:r>
          </a:p>
          <a:p>
            <a:r>
              <a:rPr lang="en-US" dirty="0"/>
              <a:t>UTKARSH SINGHAL (241119) </a:t>
            </a:r>
          </a:p>
        </p:txBody>
      </p:sp>
    </p:spTree>
    <p:extLst>
      <p:ext uri="{BB962C8B-B14F-4D97-AF65-F5344CB8AC3E}">
        <p14:creationId xmlns:p14="http://schemas.microsoft.com/office/powerpoint/2010/main" val="172334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77</TotalTime>
  <Words>638</Words>
  <Application>Microsoft Office PowerPoint</Application>
  <PresentationFormat>Widescreen</PresentationFormat>
  <Paragraphs>53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ANTHROVOLT   </vt:lpstr>
      <vt:lpstr>INTRODUCTION </vt:lpstr>
      <vt:lpstr>WORKING PRINCIPLE </vt:lpstr>
      <vt:lpstr>AMPLITUDE </vt:lpstr>
      <vt:lpstr>VOLTAGE</vt:lpstr>
      <vt:lpstr>SMOOTHNESS</vt:lpstr>
      <vt:lpstr>FREQUENCY </vt:lpstr>
      <vt:lpstr>CONCLUSIONS </vt:lpstr>
      <vt:lpstr>CONCLUSIONS </vt:lpstr>
      <vt:lpstr>CLINICAL DIAGNOSTICS </vt:lpstr>
      <vt:lpstr>APPLICATIONS </vt:lpstr>
      <vt:lpstr>FUTURE SCOPE </vt:lpstr>
      <vt:lpstr>TEAM MEMBERS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pal</dc:creator>
  <cp:lastModifiedBy>Bhargavi Borse</cp:lastModifiedBy>
  <cp:revision>2</cp:revision>
  <dcterms:created xsi:type="dcterms:W3CDTF">2025-11-11T06:48:12Z</dcterms:created>
  <dcterms:modified xsi:type="dcterms:W3CDTF">2025-11-11T10:01:23Z</dcterms:modified>
</cp:coreProperties>
</file>